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147477930" r:id="rId5"/>
    <p:sldId id="2147477931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219FAA-1B55-4E49-B4CD-83D8DD5AD362}">
          <p14:sldIdLst>
            <p14:sldId id="2147477930"/>
            <p14:sldId id="21474779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1F8"/>
    <a:srgbClr val="F6A800"/>
    <a:srgbClr val="AAB1ED"/>
    <a:srgbClr val="F2F3FB"/>
    <a:srgbClr val="EEEEEE"/>
    <a:srgbClr val="EAD2DE"/>
    <a:srgbClr val="FFF3CC"/>
    <a:srgbClr val="C9DBF9"/>
    <a:srgbClr val="C9B0C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4"/>
    <p:restoredTop sz="97056" autoAdjust="0"/>
  </p:normalViewPr>
  <p:slideViewPr>
    <p:cSldViewPr snapToGrid="0">
      <p:cViewPr varScale="1">
        <p:scale>
          <a:sx n="161" d="100"/>
          <a:sy n="161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6-5A4D-8133-1CDBE4CF2B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26-5A4D-8133-1CDBE4CF2B5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26-5A4D-8133-1CDBE4CF2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9996863"/>
        <c:axId val="210008511"/>
      </c:barChart>
      <c:catAx>
        <c:axId val="209996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210008511"/>
        <c:crosses val="autoZero"/>
        <c:auto val="1"/>
        <c:lblAlgn val="ctr"/>
        <c:lblOffset val="100"/>
        <c:noMultiLvlLbl val="0"/>
      </c:catAx>
      <c:valAx>
        <c:axId val="210008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N"/>
          </a:p>
        </c:txPr>
        <c:crossAx val="209996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6/5/26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03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661" r:id="rId2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5" userDrawn="1">
          <p15:clr>
            <a:srgbClr val="F26B43"/>
          </p15:clr>
        </p15:guide>
        <p15:guide id="2" pos="7223" userDrawn="1">
          <p15:clr>
            <a:srgbClr val="F26B43"/>
          </p15:clr>
        </p15:guide>
        <p15:guide id="3" orient="horz" pos="264" userDrawn="1">
          <p15:clr>
            <a:srgbClr val="F26B43"/>
          </p15:clr>
        </p15:guide>
        <p15:guide id="4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2705D-B284-9776-51E4-77D76557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>
                <a:latin typeface="+mn-ea"/>
              </a:rPr>
              <a:t>Op</a:t>
            </a:r>
            <a:r>
              <a:rPr lang="en-US" altLang="zh-CN">
                <a:latin typeface="+mn-ea"/>
              </a:rPr>
              <a:t>enTelemetry</a:t>
            </a:r>
            <a:r>
              <a:rPr lang="zh-CN" altLang="en-US">
                <a:latin typeface="+mn-ea"/>
              </a:rPr>
              <a:t> 介绍</a:t>
            </a:r>
            <a:endParaRPr lang="en-CN">
              <a:latin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45C5C-F433-97CF-EB77-94EF8DF14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>
                <a:latin typeface="+mn-ea"/>
              </a:rPr>
              <a:pPr/>
              <a:t>1</a:t>
            </a:fld>
            <a:endParaRPr lang="en-US">
              <a:latin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CA292-1B77-72F9-FBFB-028D4E018BAF}"/>
              </a:ext>
            </a:extLst>
          </p:cNvPr>
          <p:cNvSpPr/>
          <p:nvPr/>
        </p:nvSpPr>
        <p:spPr>
          <a:xfrm>
            <a:off x="722312" y="989358"/>
            <a:ext cx="10744199" cy="511929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72000" bIns="0" rtlCol="0" anchor="ctr" anchorCtr="1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altLang="zh-CN" sz="1400" dirty="0" err="1">
                <a:solidFill>
                  <a:schemeClr val="tx1"/>
                </a:solidFill>
                <a:latin typeface="+mn-ea"/>
                <a:cs typeface="+mn-ea"/>
              </a:rPr>
              <a:t>OpenTelemetry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 是一个标准化的，厂商独立的，发展迅速的，支持创建、采集、传输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Traces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Metrics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Logs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等监控数据，包含了各种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</a:rPr>
              <a:t>SDK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</a:rPr>
              <a:t>支持的可观测性框架。</a:t>
            </a:r>
            <a:endParaRPr lang="en-CN" sz="14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241" name="Rectangle 2240">
            <a:extLst>
              <a:ext uri="{FF2B5EF4-FFF2-40B4-BE49-F238E27FC236}">
                <a16:creationId xmlns:a16="http://schemas.microsoft.com/office/drawing/2014/main" id="{EAA2BE68-C170-280E-A32D-C49AABEEDE14}"/>
              </a:ext>
            </a:extLst>
          </p:cNvPr>
          <p:cNvSpPr/>
          <p:nvPr/>
        </p:nvSpPr>
        <p:spPr>
          <a:xfrm>
            <a:off x="5209082" y="1789016"/>
            <a:ext cx="6257430" cy="442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72000" rtlCol="0" anchor="t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+mn-ea"/>
              </a:rPr>
              <a:t>OpenTelemetry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+mn-ea"/>
              </a:rPr>
              <a:t>based</a:t>
            </a:r>
            <a:r>
              <a:rPr lang="zh-CN" altLang="en-US" sz="120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/>
                </a:solidFill>
                <a:latin typeface="+mn-ea"/>
              </a:rPr>
              <a:t>Observability</a:t>
            </a:r>
            <a:endParaRPr lang="en-CN" sz="120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58B143-9E6B-2555-5A19-550C5AAE55E0}"/>
              </a:ext>
            </a:extLst>
          </p:cNvPr>
          <p:cNvSpPr/>
          <p:nvPr/>
        </p:nvSpPr>
        <p:spPr>
          <a:xfrm>
            <a:off x="5322536" y="5031720"/>
            <a:ext cx="6030522" cy="1080000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0" bIns="0" rtlCol="0" anchor="ctr" anchorCtr="0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标准化协议：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Traces/Metrics/Logs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数据模型标准、采集标准、传输标准、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API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丰富的开发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SDK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：支持主流编程语言如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Java/Golang/Python/C/C++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等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SDK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，支持自动或手动插桩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Collector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标准实现：解决如何标准化采集、处理以及传输监控数据问题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厂商独立：监控数据采集和传输都是厂商中立的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42" name="Rectangle 2141">
            <a:extLst>
              <a:ext uri="{FF2B5EF4-FFF2-40B4-BE49-F238E27FC236}">
                <a16:creationId xmlns:a16="http://schemas.microsoft.com/office/drawing/2014/main" id="{24AA085C-8A39-F912-060B-3B40A07714EF}"/>
              </a:ext>
            </a:extLst>
          </p:cNvPr>
          <p:cNvSpPr/>
          <p:nvPr/>
        </p:nvSpPr>
        <p:spPr>
          <a:xfrm>
            <a:off x="5381807" y="2267933"/>
            <a:ext cx="1476000" cy="1840266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+mn-ea"/>
              </a:rPr>
              <a:t>Application</a:t>
            </a:r>
            <a:endParaRPr lang="en-CN" sz="12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40" name="Rectangle 2139">
            <a:extLst>
              <a:ext uri="{FF2B5EF4-FFF2-40B4-BE49-F238E27FC236}">
                <a16:creationId xmlns:a16="http://schemas.microsoft.com/office/drawing/2014/main" id="{03DBCEB4-D3AD-F68C-D672-B43927DAEAB9}"/>
              </a:ext>
            </a:extLst>
          </p:cNvPr>
          <p:cNvSpPr/>
          <p:nvPr/>
        </p:nvSpPr>
        <p:spPr>
          <a:xfrm>
            <a:off x="5348562" y="2211471"/>
            <a:ext cx="1459962" cy="1840266"/>
          </a:xfrm>
          <a:prstGeom prst="rect">
            <a:avLst/>
          </a:prstGeom>
          <a:solidFill>
            <a:srgbClr val="AAB1ED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+mn-ea"/>
              </a:rPr>
              <a:t>Application</a:t>
            </a:r>
            <a:endParaRPr lang="en-CN" sz="12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2ED2E9-3737-9FA3-AEA2-A091630F9A66}"/>
              </a:ext>
            </a:extLst>
          </p:cNvPr>
          <p:cNvSpPr/>
          <p:nvPr/>
        </p:nvSpPr>
        <p:spPr>
          <a:xfrm>
            <a:off x="5322536" y="2113765"/>
            <a:ext cx="1431988" cy="1881227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72000" rIns="0" bIns="0" rtlCol="0" anchor="t" anchorCtr="0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Application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1D67F2-67E5-CF24-CCAF-F4F783A2DDFA}"/>
              </a:ext>
            </a:extLst>
          </p:cNvPr>
          <p:cNvSpPr/>
          <p:nvPr/>
        </p:nvSpPr>
        <p:spPr>
          <a:xfrm>
            <a:off x="7127596" y="2113766"/>
            <a:ext cx="3387759" cy="198844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72000" rIns="182880" bIns="182880" rtlCol="0" anchor="t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10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ea"/>
              </a:rPr>
              <a:t>Collector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630447-DBE9-BB4F-6522-434DF699A03E}"/>
              </a:ext>
            </a:extLst>
          </p:cNvPr>
          <p:cNvSpPr/>
          <p:nvPr/>
        </p:nvSpPr>
        <p:spPr>
          <a:xfrm>
            <a:off x="10785144" y="2113766"/>
            <a:ext cx="618423" cy="2023732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accent6">
                <a:lumMod val="10000"/>
                <a:lumOff val="9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Platform</a:t>
            </a:r>
            <a:endParaRPr lang="en-CN" sz="10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832978-F1DD-E4CD-48E7-2CAE72975D77}"/>
              </a:ext>
            </a:extLst>
          </p:cNvPr>
          <p:cNvSpPr/>
          <p:nvPr/>
        </p:nvSpPr>
        <p:spPr>
          <a:xfrm>
            <a:off x="5658410" y="4296430"/>
            <a:ext cx="4562573" cy="518564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182880" rtlCol="0" anchor="t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10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1000">
                <a:solidFill>
                  <a:schemeClr val="bg2"/>
                </a:solidFill>
                <a:latin typeface="+mn-ea"/>
              </a:rPr>
              <a:t>Specification</a:t>
            </a:r>
            <a:endParaRPr lang="en-CN" sz="1000">
              <a:solidFill>
                <a:schemeClr val="bg2"/>
              </a:solidFill>
              <a:latin typeface="+mn-ea"/>
            </a:endParaRPr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E9EF09C5-8ACE-CF8E-DDB5-353115AA74BC}"/>
              </a:ext>
            </a:extLst>
          </p:cNvPr>
          <p:cNvSpPr/>
          <p:nvPr/>
        </p:nvSpPr>
        <p:spPr>
          <a:xfrm>
            <a:off x="7275400" y="2400785"/>
            <a:ext cx="537414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+mn-ea"/>
              </a:rPr>
              <a:t>Receiver</a:t>
            </a:r>
            <a:endParaRPr lang="en-CN" sz="100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603D1F35-764D-18A8-4EB7-69D9708A9D4E}"/>
              </a:ext>
            </a:extLst>
          </p:cNvPr>
          <p:cNvSpPr/>
          <p:nvPr/>
        </p:nvSpPr>
        <p:spPr>
          <a:xfrm>
            <a:off x="8011800" y="2400785"/>
            <a:ext cx="1447523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+mn-ea"/>
              </a:rPr>
              <a:t>Processors</a:t>
            </a:r>
            <a:endParaRPr lang="en-CN" sz="100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6A251308-5DB3-EE10-9B02-7CE7BAB45B26}"/>
              </a:ext>
            </a:extLst>
          </p:cNvPr>
          <p:cNvSpPr/>
          <p:nvPr/>
        </p:nvSpPr>
        <p:spPr>
          <a:xfrm>
            <a:off x="9650599" y="2400785"/>
            <a:ext cx="720000" cy="1584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 anchorCtr="0"/>
          <a:lstStyle/>
          <a:p>
            <a:pPr algn="ctr"/>
            <a:r>
              <a:rPr lang="en-CN" sz="1000">
                <a:solidFill>
                  <a:schemeClr val="bg1"/>
                </a:solidFill>
                <a:latin typeface="+mn-ea"/>
              </a:rPr>
              <a:t>Exporter</a:t>
            </a:r>
          </a:p>
        </p:txBody>
      </p: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EC35E171-1598-5CCD-F592-448FA2012F3B}"/>
              </a:ext>
            </a:extLst>
          </p:cNvPr>
          <p:cNvSpPr>
            <a:spLocks/>
          </p:cNvSpPr>
          <p:nvPr/>
        </p:nvSpPr>
        <p:spPr>
          <a:xfrm>
            <a:off x="5399716" y="2541237"/>
            <a:ext cx="1279289" cy="13455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zh-CN" sz="800">
                <a:solidFill>
                  <a:schemeClr val="bg2"/>
                </a:solidFill>
                <a:latin typeface="+mn-ea"/>
              </a:rPr>
              <a:t>Otel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SDK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Auto.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Or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Mannual</a:t>
            </a:r>
            <a:r>
              <a:rPr lang="zh-CN" altLang="en-US" sz="800">
                <a:solidFill>
                  <a:schemeClr val="bg2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2"/>
                </a:solidFill>
                <a:latin typeface="+mn-ea"/>
              </a:rPr>
              <a:t>Instrumentation</a:t>
            </a:r>
            <a:endParaRPr lang="en-CN" sz="8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9AD9D37F-AB4B-2C37-F2B5-671C9E49F01E}"/>
              </a:ext>
            </a:extLst>
          </p:cNvPr>
          <p:cNvSpPr>
            <a:spLocks/>
          </p:cNvSpPr>
          <p:nvPr/>
        </p:nvSpPr>
        <p:spPr>
          <a:xfrm>
            <a:off x="5477023" y="2836423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+mn-ea"/>
              </a:rPr>
              <a:t>Trace</a:t>
            </a:r>
            <a:r>
              <a:rPr lang="en-US" altLang="zh-CN" sz="800">
                <a:solidFill>
                  <a:schemeClr val="tx1"/>
                </a:solidFill>
                <a:latin typeface="+mn-ea"/>
              </a:rPr>
              <a:t>s</a:t>
            </a:r>
            <a:endParaRPr lang="en-CN" sz="80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EDE055F8-70D0-B85A-A446-E691F4889485}"/>
              </a:ext>
            </a:extLst>
          </p:cNvPr>
          <p:cNvSpPr>
            <a:spLocks/>
          </p:cNvSpPr>
          <p:nvPr/>
        </p:nvSpPr>
        <p:spPr>
          <a:xfrm>
            <a:off x="5477023" y="3198816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n-ea"/>
              </a:rPr>
              <a:t>Metrics</a:t>
            </a:r>
          </a:p>
        </p:txBody>
      </p:sp>
      <p:sp>
        <p:nvSpPr>
          <p:cNvPr id="2145" name="Rectangle 2144">
            <a:extLst>
              <a:ext uri="{FF2B5EF4-FFF2-40B4-BE49-F238E27FC236}">
                <a16:creationId xmlns:a16="http://schemas.microsoft.com/office/drawing/2014/main" id="{F9852D0B-87C6-0FD7-9958-2F52BFF464C6}"/>
              </a:ext>
            </a:extLst>
          </p:cNvPr>
          <p:cNvSpPr>
            <a:spLocks/>
          </p:cNvSpPr>
          <p:nvPr/>
        </p:nvSpPr>
        <p:spPr>
          <a:xfrm>
            <a:off x="5477023" y="3561209"/>
            <a:ext cx="540000" cy="266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/>
                </a:solidFill>
                <a:latin typeface="+mn-ea"/>
              </a:rPr>
              <a:t>Logs</a:t>
            </a:r>
          </a:p>
        </p:txBody>
      </p:sp>
      <p:sp>
        <p:nvSpPr>
          <p:cNvPr id="2146" name="Rectangle 2145">
            <a:extLst>
              <a:ext uri="{FF2B5EF4-FFF2-40B4-BE49-F238E27FC236}">
                <a16:creationId xmlns:a16="http://schemas.microsoft.com/office/drawing/2014/main" id="{E69EAA6B-F68F-7934-857B-DEF43D35CD44}"/>
              </a:ext>
            </a:extLst>
          </p:cNvPr>
          <p:cNvSpPr>
            <a:spLocks/>
          </p:cNvSpPr>
          <p:nvPr/>
        </p:nvSpPr>
        <p:spPr>
          <a:xfrm>
            <a:off x="6193558" y="3001226"/>
            <a:ext cx="436419" cy="59516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CN" sz="800">
                <a:solidFill>
                  <a:schemeClr val="tx1"/>
                </a:solidFill>
                <a:latin typeface="+mn-ea"/>
              </a:rPr>
              <a:t>Exporter</a:t>
            </a:r>
          </a:p>
        </p:txBody>
      </p:sp>
      <p:sp>
        <p:nvSpPr>
          <p:cNvPr id="2148" name="Rounded Rectangle 2147">
            <a:extLst>
              <a:ext uri="{FF2B5EF4-FFF2-40B4-BE49-F238E27FC236}">
                <a16:creationId xmlns:a16="http://schemas.microsoft.com/office/drawing/2014/main" id="{4102A7FA-D8A3-8132-87CC-96D3A29D4497}"/>
              </a:ext>
            </a:extLst>
          </p:cNvPr>
          <p:cNvSpPr/>
          <p:nvPr/>
        </p:nvSpPr>
        <p:spPr>
          <a:xfrm>
            <a:off x="7318229" y="2693921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OTLP</a:t>
            </a:r>
          </a:p>
        </p:txBody>
      </p:sp>
      <p:sp>
        <p:nvSpPr>
          <p:cNvPr id="2149" name="Rounded Rectangle 2148">
            <a:extLst>
              <a:ext uri="{FF2B5EF4-FFF2-40B4-BE49-F238E27FC236}">
                <a16:creationId xmlns:a16="http://schemas.microsoft.com/office/drawing/2014/main" id="{5FA446E3-CA38-4A91-DBEE-5C3CCBF22CE2}"/>
              </a:ext>
            </a:extLst>
          </p:cNvPr>
          <p:cNvSpPr/>
          <p:nvPr/>
        </p:nvSpPr>
        <p:spPr>
          <a:xfrm>
            <a:off x="7318229" y="3038899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Zipkin</a:t>
            </a:r>
          </a:p>
        </p:txBody>
      </p:sp>
      <p:sp>
        <p:nvSpPr>
          <p:cNvPr id="2150" name="Rounded Rectangle 2149">
            <a:extLst>
              <a:ext uri="{FF2B5EF4-FFF2-40B4-BE49-F238E27FC236}">
                <a16:creationId xmlns:a16="http://schemas.microsoft.com/office/drawing/2014/main" id="{E9F2C0A9-0D5A-4A91-85D7-29002D78F7A8}"/>
              </a:ext>
            </a:extLst>
          </p:cNvPr>
          <p:cNvSpPr/>
          <p:nvPr/>
        </p:nvSpPr>
        <p:spPr>
          <a:xfrm>
            <a:off x="7318229" y="3383877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Jaeger</a:t>
            </a:r>
            <a:endParaRPr lang="en-US" sz="800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</a:endParaRPr>
          </a:p>
        </p:txBody>
      </p:sp>
      <p:sp>
        <p:nvSpPr>
          <p:cNvPr id="2151" name="Rounded Rectangle 2150">
            <a:extLst>
              <a:ext uri="{FF2B5EF4-FFF2-40B4-BE49-F238E27FC236}">
                <a16:creationId xmlns:a16="http://schemas.microsoft.com/office/drawing/2014/main" id="{36118A5E-4B7F-9842-4FA0-BEDFD8D0AAF4}"/>
              </a:ext>
            </a:extLst>
          </p:cNvPr>
          <p:cNvSpPr/>
          <p:nvPr/>
        </p:nvSpPr>
        <p:spPr>
          <a:xfrm>
            <a:off x="8082068" y="2703473"/>
            <a:ext cx="363512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Filter</a:t>
            </a:r>
          </a:p>
        </p:txBody>
      </p:sp>
      <p:sp>
        <p:nvSpPr>
          <p:cNvPr id="2152" name="Rounded Rectangle 2151">
            <a:extLst>
              <a:ext uri="{FF2B5EF4-FFF2-40B4-BE49-F238E27FC236}">
                <a16:creationId xmlns:a16="http://schemas.microsoft.com/office/drawing/2014/main" id="{C58E8660-97FB-48B6-4039-60D40590C22E}"/>
              </a:ext>
            </a:extLst>
          </p:cNvPr>
          <p:cNvSpPr/>
          <p:nvPr/>
        </p:nvSpPr>
        <p:spPr>
          <a:xfrm>
            <a:off x="8529635" y="2703473"/>
            <a:ext cx="381151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Enrich</a:t>
            </a:r>
          </a:p>
        </p:txBody>
      </p:sp>
      <p:sp>
        <p:nvSpPr>
          <p:cNvPr id="2153" name="Rounded Rectangle 2152">
            <a:extLst>
              <a:ext uri="{FF2B5EF4-FFF2-40B4-BE49-F238E27FC236}">
                <a16:creationId xmlns:a16="http://schemas.microsoft.com/office/drawing/2014/main" id="{C0C5C715-45BB-BCEF-AC6D-C4106DBF72D9}"/>
              </a:ext>
            </a:extLst>
          </p:cNvPr>
          <p:cNvSpPr/>
          <p:nvPr/>
        </p:nvSpPr>
        <p:spPr>
          <a:xfrm>
            <a:off x="9007862" y="2703473"/>
            <a:ext cx="389163" cy="1188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 anchorCtr="0"/>
          <a:lstStyle/>
          <a:p>
            <a:pPr algn="ctr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Sampling</a:t>
            </a:r>
          </a:p>
        </p:txBody>
      </p:sp>
      <p:sp>
        <p:nvSpPr>
          <p:cNvPr id="2154" name="Rounded Rectangle 2153">
            <a:extLst>
              <a:ext uri="{FF2B5EF4-FFF2-40B4-BE49-F238E27FC236}">
                <a16:creationId xmlns:a16="http://schemas.microsoft.com/office/drawing/2014/main" id="{F49340BF-860F-40B4-9153-92EEE83A460C}"/>
              </a:ext>
            </a:extLst>
          </p:cNvPr>
          <p:cNvSpPr/>
          <p:nvPr/>
        </p:nvSpPr>
        <p:spPr>
          <a:xfrm>
            <a:off x="9704599" y="2715159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OTLP</a:t>
            </a:r>
          </a:p>
        </p:txBody>
      </p:sp>
      <p:sp>
        <p:nvSpPr>
          <p:cNvPr id="2157" name="Rounded Rectangle 2156">
            <a:extLst>
              <a:ext uri="{FF2B5EF4-FFF2-40B4-BE49-F238E27FC236}">
                <a16:creationId xmlns:a16="http://schemas.microsoft.com/office/drawing/2014/main" id="{7AA3E9EA-46CF-3D72-BBF4-0D72F4556598}"/>
              </a:ext>
            </a:extLst>
          </p:cNvPr>
          <p:cNvSpPr/>
          <p:nvPr/>
        </p:nvSpPr>
        <p:spPr>
          <a:xfrm>
            <a:off x="9704599" y="3050050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Prometheus</a:t>
            </a:r>
          </a:p>
        </p:txBody>
      </p:sp>
      <p:sp>
        <p:nvSpPr>
          <p:cNvPr id="2158" name="Rounded Rectangle 2157">
            <a:extLst>
              <a:ext uri="{FF2B5EF4-FFF2-40B4-BE49-F238E27FC236}">
                <a16:creationId xmlns:a16="http://schemas.microsoft.com/office/drawing/2014/main" id="{68429D97-28EE-49CE-1756-0F9D5C761942}"/>
              </a:ext>
            </a:extLst>
          </p:cNvPr>
          <p:cNvSpPr/>
          <p:nvPr/>
        </p:nvSpPr>
        <p:spPr>
          <a:xfrm>
            <a:off x="9704599" y="3384941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Datadog</a:t>
            </a:r>
          </a:p>
        </p:txBody>
      </p:sp>
      <p:cxnSp>
        <p:nvCxnSpPr>
          <p:cNvPr id="2160" name="Curved Connector 2159">
            <a:extLst>
              <a:ext uri="{FF2B5EF4-FFF2-40B4-BE49-F238E27FC236}">
                <a16:creationId xmlns:a16="http://schemas.microsoft.com/office/drawing/2014/main" id="{2DED695F-72E4-361D-02A5-AB16B199E43E}"/>
              </a:ext>
            </a:extLst>
          </p:cNvPr>
          <p:cNvCxnSpPr>
            <a:cxnSpLocks/>
            <a:stCxn id="2146" idx="3"/>
            <a:endCxn id="2148" idx="1"/>
          </p:cNvCxnSpPr>
          <p:nvPr/>
        </p:nvCxnSpPr>
        <p:spPr>
          <a:xfrm flipV="1">
            <a:off x="6629977" y="2801921"/>
            <a:ext cx="688252" cy="496889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3" name="Curved Connector 2162">
            <a:extLst>
              <a:ext uri="{FF2B5EF4-FFF2-40B4-BE49-F238E27FC236}">
                <a16:creationId xmlns:a16="http://schemas.microsoft.com/office/drawing/2014/main" id="{2622FE71-5BAA-9F98-C42E-80A5ACDCF4A8}"/>
              </a:ext>
            </a:extLst>
          </p:cNvPr>
          <p:cNvCxnSpPr>
            <a:cxnSpLocks/>
            <a:stCxn id="2146" idx="3"/>
            <a:endCxn id="2149" idx="1"/>
          </p:cNvCxnSpPr>
          <p:nvPr/>
        </p:nvCxnSpPr>
        <p:spPr>
          <a:xfrm flipV="1">
            <a:off x="6629977" y="3146899"/>
            <a:ext cx="688252" cy="151911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6" name="Curved Connector 2165">
            <a:extLst>
              <a:ext uri="{FF2B5EF4-FFF2-40B4-BE49-F238E27FC236}">
                <a16:creationId xmlns:a16="http://schemas.microsoft.com/office/drawing/2014/main" id="{E6B8A155-C270-0B48-F9FB-565BB4FFFA2A}"/>
              </a:ext>
            </a:extLst>
          </p:cNvPr>
          <p:cNvCxnSpPr>
            <a:cxnSpLocks/>
            <a:stCxn id="2146" idx="3"/>
            <a:endCxn id="2150" idx="1"/>
          </p:cNvCxnSpPr>
          <p:nvPr/>
        </p:nvCxnSpPr>
        <p:spPr>
          <a:xfrm>
            <a:off x="6629977" y="3298810"/>
            <a:ext cx="688252" cy="193067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2" name="Straight Arrow Connector 2171">
            <a:extLst>
              <a:ext uri="{FF2B5EF4-FFF2-40B4-BE49-F238E27FC236}">
                <a16:creationId xmlns:a16="http://schemas.microsoft.com/office/drawing/2014/main" id="{5936D1C3-DB09-9585-5395-571D383E0B10}"/>
              </a:ext>
            </a:extLst>
          </p:cNvPr>
          <p:cNvCxnSpPr>
            <a:cxnSpLocks/>
          </p:cNvCxnSpPr>
          <p:nvPr/>
        </p:nvCxnSpPr>
        <p:spPr>
          <a:xfrm>
            <a:off x="7831668" y="3191421"/>
            <a:ext cx="180000" cy="0"/>
          </a:xfrm>
          <a:prstGeom prst="straightConnector1">
            <a:avLst/>
          </a:prstGeom>
          <a:ln w="38100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8" name="Straight Arrow Connector 2177">
            <a:extLst>
              <a:ext uri="{FF2B5EF4-FFF2-40B4-BE49-F238E27FC236}">
                <a16:creationId xmlns:a16="http://schemas.microsoft.com/office/drawing/2014/main" id="{09110CB6-19BA-2907-33CD-E6A741C70E1F}"/>
              </a:ext>
            </a:extLst>
          </p:cNvPr>
          <p:cNvCxnSpPr>
            <a:cxnSpLocks/>
          </p:cNvCxnSpPr>
          <p:nvPr/>
        </p:nvCxnSpPr>
        <p:spPr>
          <a:xfrm>
            <a:off x="9466340" y="3185338"/>
            <a:ext cx="180000" cy="2728"/>
          </a:xfrm>
          <a:prstGeom prst="straightConnector1">
            <a:avLst/>
          </a:prstGeom>
          <a:ln w="38100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0" name="Curved Connector 2189">
            <a:extLst>
              <a:ext uri="{FF2B5EF4-FFF2-40B4-BE49-F238E27FC236}">
                <a16:creationId xmlns:a16="http://schemas.microsoft.com/office/drawing/2014/main" id="{9A813FC6-D352-3A82-7366-201ABAB6699B}"/>
              </a:ext>
            </a:extLst>
          </p:cNvPr>
          <p:cNvCxnSpPr>
            <a:cxnSpLocks/>
            <a:stCxn id="2154" idx="3"/>
            <a:endCxn id="2193" idx="1"/>
          </p:cNvCxnSpPr>
          <p:nvPr/>
        </p:nvCxnSpPr>
        <p:spPr>
          <a:xfrm flipV="1">
            <a:off x="10316599" y="2727629"/>
            <a:ext cx="541809" cy="95530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3" name="Rounded Rectangle 2192">
            <a:extLst>
              <a:ext uri="{FF2B5EF4-FFF2-40B4-BE49-F238E27FC236}">
                <a16:creationId xmlns:a16="http://schemas.microsoft.com/office/drawing/2014/main" id="{25AFDEB8-07DA-0E12-7900-7D4BB1E9DA7B}"/>
              </a:ext>
            </a:extLst>
          </p:cNvPr>
          <p:cNvSpPr/>
          <p:nvPr/>
        </p:nvSpPr>
        <p:spPr>
          <a:xfrm>
            <a:off x="10858408" y="2583629"/>
            <a:ext cx="451573" cy="288000"/>
          </a:xfrm>
          <a:prstGeom prst="round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Hubble</a:t>
            </a:r>
          </a:p>
        </p:txBody>
      </p:sp>
      <p:sp>
        <p:nvSpPr>
          <p:cNvPr id="2196" name="Rounded Rectangle 2195">
            <a:extLst>
              <a:ext uri="{FF2B5EF4-FFF2-40B4-BE49-F238E27FC236}">
                <a16:creationId xmlns:a16="http://schemas.microsoft.com/office/drawing/2014/main" id="{6FBBD901-6236-C36F-5201-C300AEAA59DA}"/>
              </a:ext>
            </a:extLst>
          </p:cNvPr>
          <p:cNvSpPr/>
          <p:nvPr/>
        </p:nvSpPr>
        <p:spPr>
          <a:xfrm>
            <a:off x="9704599" y="3719832"/>
            <a:ext cx="612000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0"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Other</a:t>
            </a:r>
          </a:p>
        </p:txBody>
      </p:sp>
      <p:sp>
        <p:nvSpPr>
          <p:cNvPr id="2199" name="Rounded Rectangle 2198">
            <a:extLst>
              <a:ext uri="{FF2B5EF4-FFF2-40B4-BE49-F238E27FC236}">
                <a16:creationId xmlns:a16="http://schemas.microsoft.com/office/drawing/2014/main" id="{A538083C-59E3-BF5C-0B70-B2762167BC4B}"/>
              </a:ext>
            </a:extLst>
          </p:cNvPr>
          <p:cNvSpPr/>
          <p:nvPr/>
        </p:nvSpPr>
        <p:spPr>
          <a:xfrm>
            <a:off x="7318229" y="3728855"/>
            <a:ext cx="451573" cy="216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chemeClr val="accent6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2880" rIns="0" bIns="182880" rtlCol="0" anchor="ctr"/>
          <a:lstStyle/>
          <a:p>
            <a:pPr algn="ctr"/>
            <a:r>
              <a:rPr lang="en-US" altLang="zh-CN" sz="800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</a:rPr>
              <a:t>Other</a:t>
            </a:r>
            <a:endParaRPr lang="en-US" sz="800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</a:endParaRPr>
          </a:p>
        </p:txBody>
      </p:sp>
      <p:cxnSp>
        <p:nvCxnSpPr>
          <p:cNvPr id="2200" name="Curved Connector 2199">
            <a:extLst>
              <a:ext uri="{FF2B5EF4-FFF2-40B4-BE49-F238E27FC236}">
                <a16:creationId xmlns:a16="http://schemas.microsoft.com/office/drawing/2014/main" id="{F3D7DB82-35D8-AA18-15FB-B92A0D0DC79C}"/>
              </a:ext>
            </a:extLst>
          </p:cNvPr>
          <p:cNvCxnSpPr>
            <a:cxnSpLocks/>
            <a:stCxn id="2146" idx="3"/>
            <a:endCxn id="2199" idx="1"/>
          </p:cNvCxnSpPr>
          <p:nvPr/>
        </p:nvCxnSpPr>
        <p:spPr>
          <a:xfrm>
            <a:off x="6629977" y="3298810"/>
            <a:ext cx="688252" cy="538045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03" name="Picture 12" descr="Datadog - Wikipedia">
            <a:extLst>
              <a:ext uri="{FF2B5EF4-FFF2-40B4-BE49-F238E27FC236}">
                <a16:creationId xmlns:a16="http://schemas.microsoft.com/office/drawing/2014/main" id="{EE0CFE68-5DEE-9E9E-54EF-73645771D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4581" y="3661560"/>
            <a:ext cx="379226" cy="379226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</p:pic>
      <p:cxnSp>
        <p:nvCxnSpPr>
          <p:cNvPr id="2205" name="Curved Connector 2204">
            <a:extLst>
              <a:ext uri="{FF2B5EF4-FFF2-40B4-BE49-F238E27FC236}">
                <a16:creationId xmlns:a16="http://schemas.microsoft.com/office/drawing/2014/main" id="{DA450865-9925-985E-4A2D-3EFCEC5BA8B4}"/>
              </a:ext>
            </a:extLst>
          </p:cNvPr>
          <p:cNvCxnSpPr>
            <a:cxnSpLocks/>
            <a:stCxn id="2158" idx="3"/>
            <a:endCxn id="2203" idx="1"/>
          </p:cNvCxnSpPr>
          <p:nvPr/>
        </p:nvCxnSpPr>
        <p:spPr>
          <a:xfrm>
            <a:off x="10316599" y="3492941"/>
            <a:ext cx="577982" cy="358232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1F3A3F26-743B-4322-8141-47982E2E54D1}"/>
              </a:ext>
            </a:extLst>
          </p:cNvPr>
          <p:cNvSpPr/>
          <p:nvPr/>
        </p:nvSpPr>
        <p:spPr>
          <a:xfrm rot="10800000">
            <a:off x="5381802" y="4152011"/>
            <a:ext cx="5135451" cy="111070"/>
          </a:xfrm>
          <a:custGeom>
            <a:avLst/>
            <a:gdLst>
              <a:gd name="connsiteX0" fmla="*/ 0 w 4041540"/>
              <a:gd name="connsiteY0" fmla="*/ 0 h 243020"/>
              <a:gd name="connsiteX1" fmla="*/ 4041540 w 4041540"/>
              <a:gd name="connsiteY1" fmla="*/ 0 h 243020"/>
              <a:gd name="connsiteX2" fmla="*/ 4041540 w 4041540"/>
              <a:gd name="connsiteY2" fmla="*/ 243020 h 243020"/>
              <a:gd name="connsiteX3" fmla="*/ 0 w 4041540"/>
              <a:gd name="connsiteY3" fmla="*/ 243020 h 243020"/>
              <a:gd name="connsiteX4" fmla="*/ 0 w 4041540"/>
              <a:gd name="connsiteY4" fmla="*/ 0 h 243020"/>
              <a:gd name="connsiteX0" fmla="*/ 216817 w 4041540"/>
              <a:gd name="connsiteY0" fmla="*/ 9426 h 243020"/>
              <a:gd name="connsiteX1" fmla="*/ 4041540 w 4041540"/>
              <a:gd name="connsiteY1" fmla="*/ 0 h 243020"/>
              <a:gd name="connsiteX2" fmla="*/ 4041540 w 4041540"/>
              <a:gd name="connsiteY2" fmla="*/ 243020 h 243020"/>
              <a:gd name="connsiteX3" fmla="*/ 0 w 4041540"/>
              <a:gd name="connsiteY3" fmla="*/ 243020 h 243020"/>
              <a:gd name="connsiteX4" fmla="*/ 216817 w 4041540"/>
              <a:gd name="connsiteY4" fmla="*/ 9426 h 243020"/>
              <a:gd name="connsiteX0" fmla="*/ 216817 w 4041540"/>
              <a:gd name="connsiteY0" fmla="*/ 0 h 233594"/>
              <a:gd name="connsiteX1" fmla="*/ 3815297 w 4041540"/>
              <a:gd name="connsiteY1" fmla="*/ 1 h 233594"/>
              <a:gd name="connsiteX2" fmla="*/ 4041540 w 4041540"/>
              <a:gd name="connsiteY2" fmla="*/ 233594 h 233594"/>
              <a:gd name="connsiteX3" fmla="*/ 0 w 4041540"/>
              <a:gd name="connsiteY3" fmla="*/ 233594 h 233594"/>
              <a:gd name="connsiteX4" fmla="*/ 216817 w 4041540"/>
              <a:gd name="connsiteY4" fmla="*/ 0 h 233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1540" h="233594">
                <a:moveTo>
                  <a:pt x="216817" y="0"/>
                </a:moveTo>
                <a:lnTo>
                  <a:pt x="3815297" y="1"/>
                </a:lnTo>
                <a:lnTo>
                  <a:pt x="4041540" y="233594"/>
                </a:lnTo>
                <a:lnTo>
                  <a:pt x="0" y="233594"/>
                </a:lnTo>
                <a:lnTo>
                  <a:pt x="216817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72000" rIns="182880" bIns="182880" rtlCol="0" anchor="t"/>
          <a:lstStyle/>
          <a:p>
            <a:pPr algn="ctr"/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2219" name="Rounded Rectangle 2218">
            <a:extLst>
              <a:ext uri="{FF2B5EF4-FFF2-40B4-BE49-F238E27FC236}">
                <a16:creationId xmlns:a16="http://schemas.microsoft.com/office/drawing/2014/main" id="{2E8D8534-C7E4-9E60-7FF9-7CAC7C344D0E}"/>
              </a:ext>
            </a:extLst>
          </p:cNvPr>
          <p:cNvSpPr/>
          <p:nvPr/>
        </p:nvSpPr>
        <p:spPr>
          <a:xfrm>
            <a:off x="5726083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API</a:t>
            </a:r>
          </a:p>
        </p:txBody>
      </p:sp>
      <p:sp>
        <p:nvSpPr>
          <p:cNvPr id="2220" name="Rounded Rectangle 2219">
            <a:extLst>
              <a:ext uri="{FF2B5EF4-FFF2-40B4-BE49-F238E27FC236}">
                <a16:creationId xmlns:a16="http://schemas.microsoft.com/office/drawing/2014/main" id="{4C33A33F-1042-9C9F-66B4-FE62FE4A021B}"/>
              </a:ext>
            </a:extLst>
          </p:cNvPr>
          <p:cNvSpPr/>
          <p:nvPr/>
        </p:nvSpPr>
        <p:spPr>
          <a:xfrm>
            <a:off x="6488760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SDK</a:t>
            </a:r>
          </a:p>
        </p:txBody>
      </p:sp>
      <p:sp>
        <p:nvSpPr>
          <p:cNvPr id="2221" name="Rounded Rectangle 2220">
            <a:extLst>
              <a:ext uri="{FF2B5EF4-FFF2-40B4-BE49-F238E27FC236}">
                <a16:creationId xmlns:a16="http://schemas.microsoft.com/office/drawing/2014/main" id="{90115333-DA7F-BC03-A4D7-AB1ADA6EE376}"/>
              </a:ext>
            </a:extLst>
          </p:cNvPr>
          <p:cNvSpPr/>
          <p:nvPr/>
        </p:nvSpPr>
        <p:spPr>
          <a:xfrm>
            <a:off x="7251437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Metrics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2" name="Rounded Rectangle 2221">
            <a:extLst>
              <a:ext uri="{FF2B5EF4-FFF2-40B4-BE49-F238E27FC236}">
                <a16:creationId xmlns:a16="http://schemas.microsoft.com/office/drawing/2014/main" id="{FC010509-A8A5-BA9F-076A-5981373AD53C}"/>
              </a:ext>
            </a:extLst>
          </p:cNvPr>
          <p:cNvSpPr/>
          <p:nvPr/>
        </p:nvSpPr>
        <p:spPr>
          <a:xfrm>
            <a:off x="8014114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Traces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3" name="Rounded Rectangle 2222">
            <a:extLst>
              <a:ext uri="{FF2B5EF4-FFF2-40B4-BE49-F238E27FC236}">
                <a16:creationId xmlns:a16="http://schemas.microsoft.com/office/drawing/2014/main" id="{CFE8AFF6-C09B-F1DA-FBB2-FCEDD3EAB877}"/>
              </a:ext>
            </a:extLst>
          </p:cNvPr>
          <p:cNvSpPr/>
          <p:nvPr/>
        </p:nvSpPr>
        <p:spPr>
          <a:xfrm>
            <a:off x="8776791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Logs</a:t>
            </a:r>
            <a:r>
              <a:rPr lang="zh-CN" altLang="en-US" sz="80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bg1"/>
                </a:solidFill>
                <a:latin typeface="+mn-ea"/>
              </a:rPr>
              <a:t>Data</a:t>
            </a:r>
          </a:p>
        </p:txBody>
      </p:sp>
      <p:sp>
        <p:nvSpPr>
          <p:cNvPr id="2224" name="Rounded Rectangle 2223">
            <a:extLst>
              <a:ext uri="{FF2B5EF4-FFF2-40B4-BE49-F238E27FC236}">
                <a16:creationId xmlns:a16="http://schemas.microsoft.com/office/drawing/2014/main" id="{0B516FBA-210C-D7C4-12F0-0489DAEB3095}"/>
              </a:ext>
            </a:extLst>
          </p:cNvPr>
          <p:cNvSpPr/>
          <p:nvPr/>
        </p:nvSpPr>
        <p:spPr>
          <a:xfrm>
            <a:off x="9539467" y="4538211"/>
            <a:ext cx="648000" cy="216000"/>
          </a:xfrm>
          <a:prstGeom prst="roundRect">
            <a:avLst/>
          </a:prstGeom>
          <a:solidFill>
            <a:srgbClr val="AAB1ED"/>
          </a:solidFill>
          <a:ln w="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+mn-ea"/>
              </a:rPr>
              <a:t>Protocol</a:t>
            </a:r>
          </a:p>
        </p:txBody>
      </p:sp>
      <p:sp>
        <p:nvSpPr>
          <p:cNvPr id="2240" name="Rectangle 2239">
            <a:extLst>
              <a:ext uri="{FF2B5EF4-FFF2-40B4-BE49-F238E27FC236}">
                <a16:creationId xmlns:a16="http://schemas.microsoft.com/office/drawing/2014/main" id="{01053E86-C13C-436F-9FDB-CACEE46E4E27}"/>
              </a:ext>
            </a:extLst>
          </p:cNvPr>
          <p:cNvSpPr/>
          <p:nvPr/>
        </p:nvSpPr>
        <p:spPr>
          <a:xfrm>
            <a:off x="785257" y="1789016"/>
            <a:ext cx="3810871" cy="4428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6000" rIns="182880" bIns="72000" rtlCol="0" anchor="t"/>
          <a:lstStyle/>
          <a:p>
            <a:pPr algn="ctr"/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ditional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Monitoring</a:t>
            </a:r>
            <a:endParaRPr lang="en-CN" sz="12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C19B-81F5-5B87-0674-110CD705063C}"/>
              </a:ext>
            </a:extLst>
          </p:cNvPr>
          <p:cNvSpPr/>
          <p:nvPr/>
        </p:nvSpPr>
        <p:spPr>
          <a:xfrm>
            <a:off x="885457" y="5047947"/>
            <a:ext cx="3561697" cy="1080000"/>
          </a:xfrm>
          <a:prstGeom prst="rect">
            <a:avLst/>
          </a:prstGeom>
          <a:solidFill>
            <a:schemeClr val="accent5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2000" tIns="0" rIns="0" bIns="0" rtlCol="0" anchor="ctr" anchorCtr="1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Metrics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、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Logs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生成方式各不相同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监控数据传输无标准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无法做到厂商独立，切换解决方案成本高，如将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Trace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采集从</a:t>
            </a:r>
            <a:r>
              <a:rPr lang="en-US" altLang="zh-CN" sz="1000" err="1">
                <a:solidFill>
                  <a:schemeClr val="tx1">
                    <a:lumMod val="85000"/>
                    <a:lumOff val="15000"/>
                  </a:schemeClr>
                </a:solidFill>
              </a:rPr>
              <a:t>SkyWalking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切换到其他解决方案</a:t>
            </a:r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</a:rPr>
              <a:t>Dynatrace</a:t>
            </a: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需要重新开发。</a:t>
            </a:r>
            <a:endParaRPr lang="en-US" altLang="zh-CN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4F855C-3B62-7BE8-5E5C-2FFE663BEF41}"/>
              </a:ext>
            </a:extLst>
          </p:cNvPr>
          <p:cNvSpPr/>
          <p:nvPr/>
        </p:nvSpPr>
        <p:spPr>
          <a:xfrm>
            <a:off x="928189" y="2208144"/>
            <a:ext cx="1016113" cy="2566220"/>
          </a:xfrm>
          <a:prstGeom prst="rect">
            <a:avLst/>
          </a:prstGeom>
          <a:solidFill>
            <a:srgbClr val="F2F3FB"/>
          </a:solidFill>
          <a:ln w="3175">
            <a:solidFill>
              <a:schemeClr val="bg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Infra/Host/VM/Container</a:t>
            </a:r>
            <a:endParaRPr lang="en-CN" sz="10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F2B381-703C-B7AB-09B8-AE10A57604D7}"/>
              </a:ext>
            </a:extLst>
          </p:cNvPr>
          <p:cNvSpPr/>
          <p:nvPr/>
        </p:nvSpPr>
        <p:spPr>
          <a:xfrm>
            <a:off x="1003228" y="2998118"/>
            <a:ext cx="863999" cy="164841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72000" rIns="0" bIns="0" rtlCol="0" anchor="t" anchorCtr="0"/>
          <a:lstStyle/>
          <a:p>
            <a:pPr algn="ctr"/>
            <a:r>
              <a:rPr lang="en-US" altLang="zh-CN" sz="1000">
                <a:solidFill>
                  <a:schemeClr val="bg2"/>
                </a:solidFill>
                <a:latin typeface="+mn-ea"/>
              </a:rPr>
              <a:t>Application</a:t>
            </a:r>
            <a:endParaRPr lang="en-CN" sz="1000" err="1">
              <a:solidFill>
                <a:schemeClr val="bg2"/>
              </a:solidFill>
              <a:latin typeface="+mn-ea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2E5C9-A369-60DF-6E7B-847A5AC8FE20}"/>
              </a:ext>
            </a:extLst>
          </p:cNvPr>
          <p:cNvSpPr>
            <a:spLocks/>
          </p:cNvSpPr>
          <p:nvPr/>
        </p:nvSpPr>
        <p:spPr>
          <a:xfrm>
            <a:off x="1119486" y="3347099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47B67D-C259-581D-AE0D-5D3400AE8DE6}"/>
              </a:ext>
            </a:extLst>
          </p:cNvPr>
          <p:cNvSpPr>
            <a:spLocks/>
          </p:cNvSpPr>
          <p:nvPr/>
        </p:nvSpPr>
        <p:spPr>
          <a:xfrm>
            <a:off x="1119486" y="3830188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Traces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F49CBF7-2C36-C87C-183A-B32D232EF284}"/>
              </a:ext>
            </a:extLst>
          </p:cNvPr>
          <p:cNvSpPr>
            <a:spLocks/>
          </p:cNvSpPr>
          <p:nvPr/>
        </p:nvSpPr>
        <p:spPr>
          <a:xfrm>
            <a:off x="1119486" y="4314408"/>
            <a:ext cx="631482" cy="266400"/>
          </a:xfrm>
          <a:prstGeom prst="rect">
            <a:avLst/>
          </a:prstGeom>
          <a:solidFill>
            <a:srgbClr val="F2F3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SDK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48" name="Rounded Rectangle 2047">
            <a:extLst>
              <a:ext uri="{FF2B5EF4-FFF2-40B4-BE49-F238E27FC236}">
                <a16:creationId xmlns:a16="http://schemas.microsoft.com/office/drawing/2014/main" id="{18A91DAC-C8B7-6D62-0507-1F502DB94111}"/>
              </a:ext>
            </a:extLst>
          </p:cNvPr>
          <p:cNvSpPr/>
          <p:nvPr/>
        </p:nvSpPr>
        <p:spPr>
          <a:xfrm>
            <a:off x="2506261" y="2231414"/>
            <a:ext cx="766916" cy="5400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Logging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49" name="Rounded Rectangle 2048">
            <a:extLst>
              <a:ext uri="{FF2B5EF4-FFF2-40B4-BE49-F238E27FC236}">
                <a16:creationId xmlns:a16="http://schemas.microsoft.com/office/drawing/2014/main" id="{25DCB02C-EDFF-3D40-8BA9-8D46BDF67FA7}"/>
              </a:ext>
            </a:extLst>
          </p:cNvPr>
          <p:cNvSpPr/>
          <p:nvPr/>
        </p:nvSpPr>
        <p:spPr>
          <a:xfrm>
            <a:off x="2516440" y="3210299"/>
            <a:ext cx="766916" cy="540000"/>
          </a:xfrm>
          <a:prstGeom prst="roundRect">
            <a:avLst/>
          </a:prstGeom>
          <a:solidFill>
            <a:schemeClr val="accent4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Tracing</a:t>
            </a:r>
            <a:r>
              <a:rPr lang="zh-CN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1" name="Rounded Rectangle 2050">
            <a:extLst>
              <a:ext uri="{FF2B5EF4-FFF2-40B4-BE49-F238E27FC236}">
                <a16:creationId xmlns:a16="http://schemas.microsoft.com/office/drawing/2014/main" id="{A56AE65B-FB7A-FE90-FA14-28EBA4D80245}"/>
              </a:ext>
            </a:extLst>
          </p:cNvPr>
          <p:cNvSpPr/>
          <p:nvPr/>
        </p:nvSpPr>
        <p:spPr>
          <a:xfrm>
            <a:off x="2506818" y="4218955"/>
            <a:ext cx="766916" cy="540000"/>
          </a:xfrm>
          <a:prstGeom prst="round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Collection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Agent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BBDFE78-2F78-3F0E-78D5-61B76EB5A71C}"/>
              </a:ext>
            </a:extLst>
          </p:cNvPr>
          <p:cNvSpPr/>
          <p:nvPr/>
        </p:nvSpPr>
        <p:spPr>
          <a:xfrm>
            <a:off x="3569907" y="2326294"/>
            <a:ext cx="86523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Logs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Backend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6" name="Rectangle 2055">
            <a:extLst>
              <a:ext uri="{FF2B5EF4-FFF2-40B4-BE49-F238E27FC236}">
                <a16:creationId xmlns:a16="http://schemas.microsoft.com/office/drawing/2014/main" id="{1384F5D4-B809-2A5D-C562-E392250E97EB}"/>
              </a:ext>
            </a:extLst>
          </p:cNvPr>
          <p:cNvSpPr/>
          <p:nvPr/>
        </p:nvSpPr>
        <p:spPr>
          <a:xfrm>
            <a:off x="3581915" y="3300299"/>
            <a:ext cx="865239" cy="360000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Traces</a:t>
            </a:r>
          </a:p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8E3CEDF-3399-3049-AD33-F47EF33EA534}"/>
              </a:ext>
            </a:extLst>
          </p:cNvPr>
          <p:cNvSpPr/>
          <p:nvPr/>
        </p:nvSpPr>
        <p:spPr>
          <a:xfrm>
            <a:off x="3567121" y="4314504"/>
            <a:ext cx="865239" cy="360000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Metrics</a:t>
            </a:r>
            <a:r>
              <a:rPr lang="zh-CN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Backend</a:t>
            </a:r>
            <a:endParaRPr lang="en-CN" sz="8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2060" name="Curved Connector 2059">
            <a:extLst>
              <a:ext uri="{FF2B5EF4-FFF2-40B4-BE49-F238E27FC236}">
                <a16:creationId xmlns:a16="http://schemas.microsoft.com/office/drawing/2014/main" id="{D7CDD296-6260-91F7-9826-310DF78B2C59}"/>
              </a:ext>
            </a:extLst>
          </p:cNvPr>
          <p:cNvCxnSpPr>
            <a:cxnSpLocks/>
            <a:stCxn id="18" idx="3"/>
            <a:endCxn id="2048" idx="1"/>
          </p:cNvCxnSpPr>
          <p:nvPr/>
        </p:nvCxnSpPr>
        <p:spPr>
          <a:xfrm flipV="1">
            <a:off x="1750968" y="2501414"/>
            <a:ext cx="755293" cy="978885"/>
          </a:xfrm>
          <a:prstGeom prst="curvedConnector3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Curved Connector 2060">
            <a:extLst>
              <a:ext uri="{FF2B5EF4-FFF2-40B4-BE49-F238E27FC236}">
                <a16:creationId xmlns:a16="http://schemas.microsoft.com/office/drawing/2014/main" id="{3F1C517E-5A26-FD6A-22E3-8F388F0635F6}"/>
              </a:ext>
            </a:extLst>
          </p:cNvPr>
          <p:cNvCxnSpPr>
            <a:cxnSpLocks/>
            <a:stCxn id="62" idx="3"/>
            <a:endCxn id="2049" idx="1"/>
          </p:cNvCxnSpPr>
          <p:nvPr/>
        </p:nvCxnSpPr>
        <p:spPr>
          <a:xfrm flipV="1">
            <a:off x="1750968" y="3480299"/>
            <a:ext cx="765472" cy="483089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>
                <a:lumMod val="9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Curved Connector 2063">
            <a:extLst>
              <a:ext uri="{FF2B5EF4-FFF2-40B4-BE49-F238E27FC236}">
                <a16:creationId xmlns:a16="http://schemas.microsoft.com/office/drawing/2014/main" id="{2F9D6C39-D482-81AA-8DEA-580D80F0989E}"/>
              </a:ext>
            </a:extLst>
          </p:cNvPr>
          <p:cNvCxnSpPr>
            <a:cxnSpLocks/>
            <a:stCxn id="63" idx="3"/>
            <a:endCxn id="2051" idx="1"/>
          </p:cNvCxnSpPr>
          <p:nvPr/>
        </p:nvCxnSpPr>
        <p:spPr>
          <a:xfrm>
            <a:off x="1750968" y="4447608"/>
            <a:ext cx="755850" cy="4134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Curved Connector 2066">
            <a:extLst>
              <a:ext uri="{FF2B5EF4-FFF2-40B4-BE49-F238E27FC236}">
                <a16:creationId xmlns:a16="http://schemas.microsoft.com/office/drawing/2014/main" id="{6BA73F69-B82B-2BC1-A9B7-1363C62AB403}"/>
              </a:ext>
            </a:extLst>
          </p:cNvPr>
          <p:cNvCxnSpPr>
            <a:cxnSpLocks/>
            <a:endCxn id="2048" idx="1"/>
          </p:cNvCxnSpPr>
          <p:nvPr/>
        </p:nvCxnSpPr>
        <p:spPr>
          <a:xfrm flipV="1">
            <a:off x="1906693" y="2501414"/>
            <a:ext cx="599568" cy="152785"/>
          </a:xfrm>
          <a:prstGeom prst="curvedConnector3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Curved Connector 2070">
            <a:extLst>
              <a:ext uri="{FF2B5EF4-FFF2-40B4-BE49-F238E27FC236}">
                <a16:creationId xmlns:a16="http://schemas.microsoft.com/office/drawing/2014/main" id="{F0141CE4-A363-1112-861E-CF9F32483ABE}"/>
              </a:ext>
            </a:extLst>
          </p:cNvPr>
          <p:cNvCxnSpPr>
            <a:cxnSpLocks/>
            <a:endCxn id="2051" idx="1"/>
          </p:cNvCxnSpPr>
          <p:nvPr/>
        </p:nvCxnSpPr>
        <p:spPr>
          <a:xfrm flipV="1">
            <a:off x="1944303" y="4488955"/>
            <a:ext cx="562515" cy="113285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Straight Arrow Connector 2088">
            <a:extLst>
              <a:ext uri="{FF2B5EF4-FFF2-40B4-BE49-F238E27FC236}">
                <a16:creationId xmlns:a16="http://schemas.microsoft.com/office/drawing/2014/main" id="{81AB1A6D-58C2-2896-EF52-083EC734CE60}"/>
              </a:ext>
            </a:extLst>
          </p:cNvPr>
          <p:cNvCxnSpPr>
            <a:cxnSpLocks/>
            <a:stCxn id="2048" idx="3"/>
            <a:endCxn id="2055" idx="1"/>
          </p:cNvCxnSpPr>
          <p:nvPr/>
        </p:nvCxnSpPr>
        <p:spPr>
          <a:xfrm>
            <a:off x="3273177" y="2501414"/>
            <a:ext cx="296730" cy="4880"/>
          </a:xfrm>
          <a:prstGeom prst="straightConnector1">
            <a:avLst/>
          </a:prstGeom>
          <a:ln w="15875">
            <a:solidFill>
              <a:schemeClr val="accent1">
                <a:lumMod val="20000"/>
                <a:lumOff val="8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Straight Arrow Connector 2089">
            <a:extLst>
              <a:ext uri="{FF2B5EF4-FFF2-40B4-BE49-F238E27FC236}">
                <a16:creationId xmlns:a16="http://schemas.microsoft.com/office/drawing/2014/main" id="{4F0BF7EA-9786-AF59-8F0C-9C681F19C8BD}"/>
              </a:ext>
            </a:extLst>
          </p:cNvPr>
          <p:cNvCxnSpPr>
            <a:cxnSpLocks/>
            <a:stCxn id="2049" idx="3"/>
            <a:endCxn id="2056" idx="1"/>
          </p:cNvCxnSpPr>
          <p:nvPr/>
        </p:nvCxnSpPr>
        <p:spPr>
          <a:xfrm>
            <a:off x="3283356" y="3480299"/>
            <a:ext cx="298559" cy="0"/>
          </a:xfrm>
          <a:prstGeom prst="straightConnector1">
            <a:avLst/>
          </a:prstGeom>
          <a:ln w="15875">
            <a:solidFill>
              <a:schemeClr val="accent3">
                <a:lumMod val="90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Straight Arrow Connector 2094">
            <a:extLst>
              <a:ext uri="{FF2B5EF4-FFF2-40B4-BE49-F238E27FC236}">
                <a16:creationId xmlns:a16="http://schemas.microsoft.com/office/drawing/2014/main" id="{8013CA6D-89DD-8855-0A47-B48BC5718F24}"/>
              </a:ext>
            </a:extLst>
          </p:cNvPr>
          <p:cNvCxnSpPr>
            <a:cxnSpLocks/>
            <a:stCxn id="2051" idx="3"/>
            <a:endCxn id="2057" idx="1"/>
          </p:cNvCxnSpPr>
          <p:nvPr/>
        </p:nvCxnSpPr>
        <p:spPr>
          <a:xfrm>
            <a:off x="3273734" y="4488955"/>
            <a:ext cx="293387" cy="5549"/>
          </a:xfrm>
          <a:prstGeom prst="straightConnector1">
            <a:avLst/>
          </a:prstGeom>
          <a:ln w="15875">
            <a:solidFill>
              <a:schemeClr val="accent6">
                <a:lumMod val="25000"/>
                <a:lumOff val="75000"/>
              </a:schemeClr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0" name="TextBox 2109">
            <a:extLst>
              <a:ext uri="{FF2B5EF4-FFF2-40B4-BE49-F238E27FC236}">
                <a16:creationId xmlns:a16="http://schemas.microsoft.com/office/drawing/2014/main" id="{68EA039A-F0F6-8A28-99E0-CD58D640F65B}"/>
              </a:ext>
            </a:extLst>
          </p:cNvPr>
          <p:cNvSpPr txBox="1"/>
          <p:nvPr/>
        </p:nvSpPr>
        <p:spPr>
          <a:xfrm>
            <a:off x="1862649" y="4234270"/>
            <a:ext cx="6286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</a:t>
            </a:r>
            <a:r>
              <a:rPr lang="en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pp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metrics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1" name="TextBox 2110">
            <a:extLst>
              <a:ext uri="{FF2B5EF4-FFF2-40B4-BE49-F238E27FC236}">
                <a16:creationId xmlns:a16="http://schemas.microsoft.com/office/drawing/2014/main" id="{39E434EB-C9E2-EFD8-E078-250D45440CCA}"/>
              </a:ext>
            </a:extLst>
          </p:cNvPr>
          <p:cNvSpPr txBox="1"/>
          <p:nvPr/>
        </p:nvSpPr>
        <p:spPr>
          <a:xfrm>
            <a:off x="1848373" y="4608016"/>
            <a:ext cx="64793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Host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metrics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2" name="TextBox 2111">
            <a:extLst>
              <a:ext uri="{FF2B5EF4-FFF2-40B4-BE49-F238E27FC236}">
                <a16:creationId xmlns:a16="http://schemas.microsoft.com/office/drawing/2014/main" id="{2BFA817B-A7A3-A967-DEBC-0148863F5A2B}"/>
              </a:ext>
            </a:extLst>
          </p:cNvPr>
          <p:cNvSpPr txBox="1"/>
          <p:nvPr/>
        </p:nvSpPr>
        <p:spPr>
          <a:xfrm>
            <a:off x="1877449" y="2371751"/>
            <a:ext cx="5357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Host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logs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113" name="TextBox 2112">
            <a:extLst>
              <a:ext uri="{FF2B5EF4-FFF2-40B4-BE49-F238E27FC236}">
                <a16:creationId xmlns:a16="http://schemas.microsoft.com/office/drawing/2014/main" id="{25DF4BDA-32A8-D19E-175E-CD0354ACA3C5}"/>
              </a:ext>
            </a:extLst>
          </p:cNvPr>
          <p:cNvSpPr txBox="1"/>
          <p:nvPr/>
        </p:nvSpPr>
        <p:spPr>
          <a:xfrm>
            <a:off x="1985973" y="3793407"/>
            <a:ext cx="5790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App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traces</a:t>
            </a:r>
            <a:endParaRPr lang="en-CN" sz="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237" name="TextBox 2236">
            <a:extLst>
              <a:ext uri="{FF2B5EF4-FFF2-40B4-BE49-F238E27FC236}">
                <a16:creationId xmlns:a16="http://schemas.microsoft.com/office/drawing/2014/main" id="{37DB974D-F353-71D7-9296-9CD09CE33389}"/>
              </a:ext>
            </a:extLst>
          </p:cNvPr>
          <p:cNvSpPr txBox="1"/>
          <p:nvPr/>
        </p:nvSpPr>
        <p:spPr>
          <a:xfrm>
            <a:off x="2029472" y="3042641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App</a:t>
            </a:r>
            <a:r>
              <a:rPr lang="zh-CN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 </a:t>
            </a:r>
            <a:r>
              <a:rPr lang="en-US" altLang="zh-CN" sz="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itchFamily="34" charset="0"/>
              </a:rPr>
              <a:t>logs</a:t>
            </a:r>
            <a:endParaRPr lang="en-CN" sz="600" err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itchFamily="34" charset="0"/>
            </a:endParaRPr>
          </a:p>
        </p:txBody>
      </p:sp>
      <p:sp>
        <p:nvSpPr>
          <p:cNvPr id="2244" name="Right Arrow 2243">
            <a:extLst>
              <a:ext uri="{FF2B5EF4-FFF2-40B4-BE49-F238E27FC236}">
                <a16:creationId xmlns:a16="http://schemas.microsoft.com/office/drawing/2014/main" id="{7CE0C39A-6D1D-2FD7-9DAD-F25B85A9DE12}"/>
              </a:ext>
            </a:extLst>
          </p:cNvPr>
          <p:cNvSpPr/>
          <p:nvPr/>
        </p:nvSpPr>
        <p:spPr>
          <a:xfrm>
            <a:off x="4356286" y="2683015"/>
            <a:ext cx="693281" cy="2560669"/>
          </a:xfrm>
          <a:prstGeom prst="rightArrow">
            <a:avLst>
              <a:gd name="adj1" fmla="val 0"/>
              <a:gd name="adj2" fmla="val 44076"/>
            </a:avLst>
          </a:prstGeom>
          <a:solidFill>
            <a:schemeClr val="accent6">
              <a:lumMod val="10000"/>
              <a:lumOff val="9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en-CN" sz="1600" err="1">
              <a:solidFill>
                <a:prstClr val="white"/>
              </a:solidFill>
              <a:latin typeface="+mn-e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2F0F1-0826-5FE7-5C5C-166CC628C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061" y="3077291"/>
            <a:ext cx="462847" cy="349651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8538AEEF-6AA9-B2E5-DFD0-35323721025E}"/>
              </a:ext>
            </a:extLst>
          </p:cNvPr>
          <p:cNvCxnSpPr>
            <a:cxnSpLocks/>
          </p:cNvCxnSpPr>
          <p:nvPr/>
        </p:nvCxnSpPr>
        <p:spPr>
          <a:xfrm>
            <a:off x="10316599" y="3158050"/>
            <a:ext cx="586792" cy="108545"/>
          </a:xfrm>
          <a:prstGeom prst="curvedConnector3">
            <a:avLst>
              <a:gd name="adj1" fmla="val 50000"/>
            </a:avLst>
          </a:prstGeom>
          <a:ln w="15875">
            <a:solidFill>
              <a:srgbClr val="F6A80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E5E548-F67B-DF09-C808-1FFF1ED41E56}"/>
              </a:ext>
            </a:extLst>
          </p:cNvPr>
          <p:cNvSpPr txBox="1"/>
          <p:nvPr/>
        </p:nvSpPr>
        <p:spPr>
          <a:xfrm>
            <a:off x="9971314" y="66098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CN" sz="1800" err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52338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A044-2FF9-DFC4-4927-DE9D5690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Complex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C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42FD72-27A3-AD54-DF2E-0AB9A80505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4792870"/>
              </p:ext>
            </p:extLst>
          </p:nvPr>
        </p:nvGraphicFramePr>
        <p:xfrm>
          <a:off x="760413" y="1308100"/>
          <a:ext cx="10671175" cy="478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8E8F6-5A54-C653-5BF3-0B71BB62A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1258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nocn3b4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F65D00F-543C-4EA3-AB4F-A8FFF00EEA2C}" vid="{3B65E472-2AD6-4176-9EF6-397D86762C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f1c2fc-accb-40ba-96b1-308a9ea1fb4c" xsi:nil="true"/>
    <lcf76f155ced4ddcb4097134ff3c332f xmlns="444285c8-958b-4a0c-bf74-3712729f4a2e">
      <Terms xmlns="http://schemas.microsoft.com/office/infopath/2007/PartnerControls"/>
    </lcf76f155ced4ddcb4097134ff3c332f>
    <SharedWithUsers xmlns="fdf1c2fc-accb-40ba-96b1-308a9ea1fb4c">
      <UserInfo>
        <DisplayName>Ming Ming14 Zhang</DisplayName>
        <AccountId>201</AccountId>
        <AccountType/>
      </UserInfo>
    </SharedWithUsers>
    <MediaLengthInSeconds xmlns="444285c8-958b-4a0c-bf74-3712729f4a2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06F23AB8DF1CF54DBFB57E4AEC77EFFA" ma:contentTypeVersion="15" ma:contentTypeDescription="新建文档。" ma:contentTypeScope="" ma:versionID="c91b82cc1206183dcedc8918a1f43f1f">
  <xsd:schema xmlns:xsd="http://www.w3.org/2001/XMLSchema" xmlns:xs="http://www.w3.org/2001/XMLSchema" xmlns:p="http://schemas.microsoft.com/office/2006/metadata/properties" xmlns:ns2="444285c8-958b-4a0c-bf74-3712729f4a2e" xmlns:ns3="fdf1c2fc-accb-40ba-96b1-308a9ea1fb4c" targetNamespace="http://schemas.microsoft.com/office/2006/metadata/properties" ma:root="true" ma:fieldsID="5e9a6a9d194e17090a43332b5e377c16" ns2:_="" ns3:_="">
    <xsd:import namespace="444285c8-958b-4a0c-bf74-3712729f4a2e"/>
    <xsd:import namespace="fdf1c2fc-accb-40ba-96b1-308a9ea1fb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285c8-958b-4a0c-bf74-3712729f4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图像标记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1c2fc-accb-40ba-96b1-308a9ea1fb4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7c21dd5-e1f5-497b-ba2f-7a907eb82ede}" ma:internalName="TaxCatchAll" ma:showField="CatchAllData" ma:web="fdf1c2fc-accb-40ba-96b1-308a9ea1fb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2F4579-0E70-4651-AA9A-614C146364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8D3B09-97DD-4BE5-B49A-06DCA0C179AD}">
  <ds:schemaRefs>
    <ds:schemaRef ds:uri="http://purl.org/dc/terms/"/>
    <ds:schemaRef ds:uri="http://www.w3.org/XML/1998/namespace"/>
    <ds:schemaRef ds:uri="http://purl.org/dc/elements/1.1/"/>
    <ds:schemaRef ds:uri="444285c8-958b-4a0c-bf74-3712729f4a2e"/>
    <ds:schemaRef ds:uri="http://schemas.microsoft.com/office/2006/metadata/properties"/>
    <ds:schemaRef ds:uri="http://schemas.microsoft.com/office/2006/documentManagement/types"/>
    <ds:schemaRef ds:uri="fdf1c2fc-accb-40ba-96b1-308a9ea1fb4c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F3F2BC-5FEC-4199-B3DF-C7E0982673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285c8-958b-4a0c-bf74-3712729f4a2e"/>
    <ds:schemaRef ds:uri="fdf1c2fc-accb-40ba-96b1-308a9ea1fb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4284</TotalTime>
  <Words>258</Words>
  <Application>Microsoft Macintosh PowerPoint</Application>
  <PresentationFormat>Custom</PresentationFormat>
  <Paragraphs>74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等线</vt:lpstr>
      <vt:lpstr>Arial</vt:lpstr>
      <vt:lpstr>Lenovo Master</vt:lpstr>
      <vt:lpstr>OpenTelemetry 介绍</vt:lpstr>
      <vt:lpstr>Complex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 Lu1 Bian</dc:creator>
  <cp:lastModifiedBy>Jin Jin3 Luo</cp:lastModifiedBy>
  <cp:revision>15</cp:revision>
  <dcterms:modified xsi:type="dcterms:W3CDTF">2026-06-05T08:51:33Z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0x01010006F23AB8DF1CF54DBFB57E4AEC77EFFA</vt:lpwstr>
  </property>
  <property fmtid="{D5CDD505-2E9C-101B-9397-08002B2CF9AE}" pid="3" name="Order">
    <vt:r8>2184700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